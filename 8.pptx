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>
            <a:fillRect/>
          </a:stretch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>
            <a:fillRect/>
          </a:stretch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www.atlassian.com/agile" TargetMode="External"/><Relationship Id="rId2" Type="http://schemas.openxmlformats.org/officeDocument/2006/relationships/hyperlink" Target="https://nptel.ac.in/courses/106101061" TargetMode="External"/><Relationship Id="rId1" Type="http://schemas.openxmlformats.org/officeDocument/2006/relationships/hyperlink" Target="https://www.computer.org/education/bodies-of-knowledge/software-engineering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75;p16"/>
          <p:cNvSpPr txBox="1"/>
          <p:nvPr/>
        </p:nvSpPr>
        <p:spPr>
          <a:xfrm>
            <a:off x="3663678" y="376069"/>
            <a:ext cx="5448301" cy="39751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2000" b="1" cap="all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CSE, CSIT </a:t>
            </a:r>
            <a:endParaRPr lang="en-US" sz="2000" b="1" cap="all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476;p16"/>
          <p:cNvSpPr txBox="1"/>
          <p:nvPr/>
        </p:nvSpPr>
        <p:spPr>
          <a:xfrm>
            <a:off x="2091448" y="1193798"/>
            <a:ext cx="8433880" cy="3168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cap="all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COURSE NAME – ADAPTIVE Software </a:t>
            </a:r>
            <a:r>
              <a:rPr lang="en-US" sz="3000" b="1" cap="all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BioRhyme ExtraBold"/>
              </a:rPr>
              <a:t>Engineering</a:t>
            </a:r>
            <a:endParaRPr lang="en-US" sz="3000" b="1" cap="all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000" b="1" cap="all" dirty="0" smtClean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algn="ctr"/>
            <a:r>
              <a:rPr lang="en-US" sz="2800" b="1">
                <a:solidFill>
                  <a:srgbClr val="C00000"/>
                </a:solidFill>
              </a:rPr>
              <a:t>Course Code:  24CI3201</a:t>
            </a:r>
            <a:endParaRPr lang="en-US" sz="2800" b="1" cap="all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000" b="1" cap="all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3200" b="1" cap="all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BioRhyme ExtraBold"/>
              <a:cs typeface="Times New Roman" panose="02020603050405020304" pitchFamily="18" charset="0"/>
              <a:sym typeface="BioRhyme Extra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6125" y="3995985"/>
            <a:ext cx="8647889" cy="475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8 .</a:t>
            </a:r>
            <a:r>
              <a:rPr lang="en-IN" sz="25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AGILE ESTIMATION AND VELOCITY</a:t>
            </a:r>
            <a:r>
              <a:rPr lang="en-US" sz="2500" b="1" cap="all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BioRhyme ExtraBold"/>
              </a:rPr>
              <a:t> </a:t>
            </a:r>
            <a:endParaRPr lang="en-US" sz="2500" b="1" cap="all" dirty="0">
              <a:solidFill>
                <a:srgbClr val="FF0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  <a:sym typeface="BioRhyme Extra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ESTIMATION TECHNIQUES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84784"/>
            <a:ext cx="9603275" cy="405881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Techniques: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Poker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use cards (0,1,2,3,5,8…) to estimate stories collaboratively.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T-Shirt Sizing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are sized as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XS, S, M, L, XL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complexity.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Wideband Delphi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Experts estimate independently → discuss → re-estimate → reach consensus.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Three-Point Estimation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Uses: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Optimistic (O)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Likely (M)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Pessimistic (P)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Final estimate = (O + 4M + P) / 6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sp>
        <p:nvSpPr>
          <p:cNvPr id="8" name="Text Box 7"/>
          <p:cNvSpPr txBox="1"/>
          <p:nvPr/>
        </p:nvSpPr>
        <p:spPr>
          <a:xfrm>
            <a:off x="3973195" y="-426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AGILE ESTIMATION BASICS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84784"/>
            <a:ext cx="9603275" cy="416869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estimation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relative, not absolute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Ideas: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effort, complexity, and uncertainty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tasks instead of assigning exact hours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discussion &amp; collaboration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Principle: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“Estimate to understand, not to be perfect.”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3. STORY POINTS &amp; PLANNING POKER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3968548"/>
          </a:xfrm>
        </p:spPr>
        <p:txBody>
          <a:bodyPr>
            <a:noAutofit/>
          </a:bodyPr>
          <a:lstStyle/>
          <a:p>
            <a:r>
              <a:rPr lang="en-IN" sz="1100" b="1" dirty="0"/>
              <a:t>Story Points:</a:t>
            </a:r>
            <a:endParaRPr lang="en-IN" sz="1100" b="1" dirty="0"/>
          </a:p>
          <a:p>
            <a:pPr marL="0" lvl="0" indent="0">
              <a:buNone/>
            </a:pPr>
            <a:r>
              <a:rPr lang="en-IN" sz="1100" b="1" dirty="0"/>
              <a:t>Measure relative effort </a:t>
            </a:r>
            <a:endParaRPr lang="en-IN" sz="1100" b="1" dirty="0"/>
          </a:p>
          <a:p>
            <a:pPr marL="0" lvl="0" indent="0">
              <a:buNone/>
            </a:pPr>
            <a:r>
              <a:rPr lang="en-IN" sz="1100" b="1" dirty="0"/>
              <a:t>        Based on: </a:t>
            </a:r>
            <a:endParaRPr lang="en-IN" sz="11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100" b="1" dirty="0"/>
              <a:t>Complexity </a:t>
            </a:r>
            <a:endParaRPr lang="en-IN" sz="11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100" b="1" dirty="0"/>
              <a:t>Risk </a:t>
            </a:r>
            <a:endParaRPr lang="en-IN" sz="1100" b="1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IN" sz="1100" b="1" dirty="0"/>
              <a:t>Effort </a:t>
            </a:r>
            <a:endParaRPr lang="en-IN" sz="1100" b="1" dirty="0"/>
          </a:p>
          <a:p>
            <a:r>
              <a:rPr lang="en-IN" sz="1100" b="1" dirty="0"/>
              <a:t>Fibonacci Scale:</a:t>
            </a:r>
            <a:endParaRPr lang="en-IN" sz="1100" b="1" dirty="0"/>
          </a:p>
          <a:p>
            <a:pPr marL="0" indent="0">
              <a:buNone/>
            </a:pPr>
            <a:r>
              <a:rPr lang="en-IN" sz="1100" b="1" dirty="0"/>
              <a:t>	👉 1, 2, 3, 5, 8, 13, 21...</a:t>
            </a:r>
            <a:endParaRPr lang="en-IN" sz="1100" b="1" dirty="0"/>
          </a:p>
          <a:p>
            <a:pPr marL="0" indent="0">
              <a:buNone/>
            </a:pPr>
            <a:r>
              <a:rPr lang="en-IN" sz="1100" b="1" dirty="0"/>
              <a:t> Planning Poker Steps:</a:t>
            </a:r>
            <a:endParaRPr lang="en-IN" sz="1100" b="1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 b="1" dirty="0"/>
              <a:t>Read user story </a:t>
            </a:r>
            <a:endParaRPr lang="en-IN" sz="1100" b="1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 b="1" dirty="0"/>
              <a:t>Discuss requirements </a:t>
            </a:r>
            <a:endParaRPr lang="en-IN" sz="1100" b="1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 b="1" dirty="0"/>
              <a:t>Each member selects a card </a:t>
            </a:r>
            <a:endParaRPr lang="en-IN" sz="1100" b="1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 b="1" dirty="0"/>
              <a:t>Reveal simultaneously </a:t>
            </a:r>
            <a:endParaRPr lang="en-IN" sz="1100" b="1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IN" sz="1100" b="1" dirty="0"/>
              <a:t>Discuss differences &amp; re-vote</a:t>
            </a:r>
            <a:endParaRPr lang="en-IN" sz="1100" b="1" dirty="0"/>
          </a:p>
          <a:p>
            <a:endParaRPr lang="en-IN" sz="1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ESTIMATION VELOCITY CONCEPT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707502"/>
            <a:ext cx="9603275" cy="4236098"/>
          </a:xfrm>
        </p:spPr>
        <p:txBody>
          <a:bodyPr>
            <a:normAutofit lnSpcReduction="10000"/>
          </a:bodyPr>
          <a:lstStyle/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Velocity?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Amount of work completed in a sprint (in story points)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Points: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capacity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individual performance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planning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Example: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team completes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story points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velocity = 30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636370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VELOCITY CALCULATION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275407"/>
          </a:xfrm>
        </p:spPr>
        <p:txBody>
          <a:bodyPr/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Formula: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Velocity = Sum of completed story points in a sprint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189216" y="3537511"/>
          <a:ext cx="81280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Story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Points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Login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Payment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Dashboard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velocity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2332653" y="5530959"/>
            <a:ext cx="6102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>
              <a:buNone/>
            </a:pPr>
            <a:r>
              <a:rPr lang="en-IN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Average Velocity:</a:t>
            </a:r>
            <a:endParaRPr lang="en-IN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buNone/>
            </a:pPr>
            <a:r>
              <a:rPr lang="en-IN" sz="1800" dirty="0">
                <a:effectLst/>
                <a:latin typeface="Segoe UI Symbol" panose="020B0502040204020203" pitchFamily="34" charset="0"/>
                <a:ea typeface="Times New Roman" panose="02020603050405020304" pitchFamily="18" charset="0"/>
                <a:cs typeface="Segoe UI Symbol" panose="020B0502040204020203" pitchFamily="34" charset="0"/>
              </a:rPr>
              <a:t>👉</a:t>
            </a: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(Sprint1 + Sprint2 + Sprint3) / 3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63239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SPRINT PLANNING USING VELOCITY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1875454"/>
            <a:ext cx="9603275" cy="4178028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helps decide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work to take into a sprint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past velocity (e.g., 30 points)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team availability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user stories from backlog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total points ≈ velocity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sprint backlog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👉 Example: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= 30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stories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~30 points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78168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Final Summary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sizing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 Points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 measurement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Velocity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output per sprint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Planning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velocity to commit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 smtClean="0">
                <a:solidFill>
                  <a:srgbClr val="C00000"/>
                </a:solidFill>
              </a:rPr>
              <a:t>Web references</a:t>
            </a:r>
            <a:endParaRPr lang="en-US" b="1" i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51579" y="2448377"/>
            <a:ext cx="825110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Computer Society – Software Engineering Resources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1"/>
              </a:rPr>
              <a:t>https://www.computer.org/education/bodies-of-knowledge/software-engineering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NPTEL – Software Engineering Courses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https://nptel.ac.in/courses/106101061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Atlassian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Agile Tutorial – Scrum,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Kanban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User Stories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https://www.atlassian.com/agile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Topic questions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 Backlog vs. Sprint Backlog and the Mechanics of Backlog </a:t>
            </a:r>
            <a:r>
              <a:rPr lang="en-US" dirty="0" smtClean="0"/>
              <a:t>Refinement?</a:t>
            </a:r>
            <a:endParaRPr lang="en-US" dirty="0" smtClean="0"/>
          </a:p>
          <a:p>
            <a:r>
              <a:rPr lang="en-US" dirty="0"/>
              <a:t>Deep Dive into the Kano Model for Feature </a:t>
            </a:r>
            <a:r>
              <a:rPr lang="en-US" dirty="0" smtClean="0"/>
              <a:t>Prioritization?</a:t>
            </a:r>
            <a:endParaRPr lang="en-US" dirty="0" smtClean="0"/>
          </a:p>
          <a:p>
            <a:r>
              <a:rPr lang="en-US" dirty="0"/>
              <a:t>Managing Estimation Biases and the Execution of Planning </a:t>
            </a:r>
            <a:r>
              <a:rPr lang="en-US" dirty="0" smtClean="0"/>
              <a:t>Poker?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</a:fld>
            <a:endParaRPr lang="en-IN"/>
          </a:p>
        </p:txBody>
      </p:sp>
      <p:sp>
        <p:nvSpPr>
          <p:cNvPr id="5" name="Rounded Rectangle 3"/>
          <p:cNvSpPr>
            <a:spLocks noGrp="1"/>
          </p:cNvSpPr>
          <p:nvPr>
            <p:ph idx="1"/>
          </p:nvPr>
        </p:nvSpPr>
        <p:spPr>
          <a:prstGeom prst="roundRect">
            <a:avLst/>
          </a:prstGeom>
          <a:solidFill>
            <a:srgbClr val="ED7D31"/>
          </a:solidFill>
          <a:ln w="19050" cap="flat" cmpd="sng" algn="ctr">
            <a:noFill/>
            <a:prstDash val="solid"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2400" kern="0" dirty="0">
              <a:solidFill>
                <a:prstClr val="white"/>
              </a:solidFill>
              <a:latin typeface="Poppins" pitchFamily="2" charset="77"/>
              <a:cs typeface="Poppins" pitchFamily="2" charset="7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THANK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YOU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Team – ADAPTIVE SOFTWARE ENGINEERING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883724" y="3315342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01. Introduction of software Session 1</Template>
  <TotalTime>0</TotalTime>
  <Words>2592</Words>
  <Application>WPS Presentation</Application>
  <PresentationFormat>Widescreen</PresentationFormat>
  <Paragraphs>159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BioRhyme ExtraBold</vt:lpstr>
      <vt:lpstr>Segoe Print</vt:lpstr>
      <vt:lpstr>Tahoma</vt:lpstr>
      <vt:lpstr>Calibri</vt:lpstr>
      <vt:lpstr>Segoe UI Symbol</vt:lpstr>
      <vt:lpstr>Poppins</vt:lpstr>
      <vt:lpstr>Gill Sans MT</vt:lpstr>
      <vt:lpstr>Microsoft YaHei</vt:lpstr>
      <vt:lpstr>Arial Unicode MS</vt:lpstr>
      <vt:lpstr>Gallery</vt:lpstr>
      <vt:lpstr>PowerPoint 演示文稿</vt:lpstr>
      <vt:lpstr>1. ESTIMATION TECHNIQUES </vt:lpstr>
      <vt:lpstr>2. AGILE ESTIMATION BASICS </vt:lpstr>
      <vt:lpstr>3. STORY POINTS &amp; PLANNING POKER </vt:lpstr>
      <vt:lpstr>4. ESTIMATION VELOCITY CONCEPT </vt:lpstr>
      <vt:lpstr>5. VELOCITY CALCULATION </vt:lpstr>
      <vt:lpstr>6. SPRINT PLANNING USING VELOCITY </vt:lpstr>
      <vt:lpstr>✅ Final Summary </vt:lpstr>
      <vt:lpstr>Web references</vt:lpstr>
      <vt:lpstr>Topic questions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SURESH RADHA</dc:creator>
  <cp:lastModifiedBy>arjun</cp:lastModifiedBy>
  <cp:revision>18</cp:revision>
  <dcterms:created xsi:type="dcterms:W3CDTF">2023-07-06T09:03:00Z</dcterms:created>
  <dcterms:modified xsi:type="dcterms:W3CDTF">2026-07-21T06:36:48Z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54EBEDB5B4F8447691F21BB7AD2B477C_13</vt:lpwstr>
  </property>
  <property fmtid="{D5CDD505-2E9C-101B-9397-08002B2CF9AE}" pid="3" name="KSOProductBuildVer">
    <vt:lpwstr>1033-12.1.0.27458</vt:lpwstr>
  </property>
</Properties>
</file>